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46" r:id="rId1"/>
  </p:sldMasterIdLst>
  <p:notesMasterIdLst>
    <p:notesMasterId r:id="rId39"/>
  </p:notesMasterIdLst>
  <p:sldIdLst>
    <p:sldId id="256" r:id="rId2"/>
    <p:sldId id="257" r:id="rId3"/>
    <p:sldId id="297" r:id="rId4"/>
    <p:sldId id="295" r:id="rId5"/>
    <p:sldId id="350" r:id="rId6"/>
    <p:sldId id="332" r:id="rId7"/>
    <p:sldId id="328" r:id="rId8"/>
    <p:sldId id="331" r:id="rId9"/>
    <p:sldId id="335" r:id="rId10"/>
    <p:sldId id="347" r:id="rId11"/>
    <p:sldId id="336" r:id="rId12"/>
    <p:sldId id="337" r:id="rId13"/>
    <p:sldId id="338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8" r:id="rId22"/>
    <p:sldId id="349" r:id="rId23"/>
    <p:sldId id="351" r:id="rId24"/>
    <p:sldId id="353" r:id="rId25"/>
    <p:sldId id="352" r:id="rId26"/>
    <p:sldId id="361" r:id="rId27"/>
    <p:sldId id="301" r:id="rId28"/>
    <p:sldId id="302" r:id="rId29"/>
    <p:sldId id="303" r:id="rId30"/>
    <p:sldId id="354" r:id="rId31"/>
    <p:sldId id="356" r:id="rId32"/>
    <p:sldId id="355" r:id="rId33"/>
    <p:sldId id="357" r:id="rId34"/>
    <p:sldId id="358" r:id="rId35"/>
    <p:sldId id="359" r:id="rId36"/>
    <p:sldId id="363" r:id="rId37"/>
    <p:sldId id="362" r:id="rId3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86833" autoAdjust="0"/>
  </p:normalViewPr>
  <p:slideViewPr>
    <p:cSldViewPr>
      <p:cViewPr>
        <p:scale>
          <a:sx n="70" d="100"/>
          <a:sy n="70" d="100"/>
        </p:scale>
        <p:origin x="-630" y="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D6BFD-37DA-4521-98DF-68989F5EB63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20866-44FF-4FB7-A026-BBF0CCEDF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7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866-44FF-4FB7-A026-BBF0CCEDF7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9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866-44FF-4FB7-A026-BBF0CCEDF7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9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A3369C-3892-4314-8983-13EA600AEB3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EE3A45-4960-402A-8A6A-974BE869275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F44517-C788-4308-8BA3-FED0498952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F254F-EB77-43D7-9387-5DC99C8256A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843222-A4AE-4EA9-94B8-75F2404D8EA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C364CD-3996-4740-B029-C097C813D9A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572BF7-37AC-49B2-8FF5-484CF56EE09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A6A16C-4F04-4D7A-A886-F8AD4D66B7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357908-A254-4805-B60E-675E0801C7B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4BFB36-07C0-4CCA-A4C6-404C347A1F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481CA-66CA-435E-AAEF-0A120EFBA1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F020359-3D86-4B94-B74E-1D2A1A57C41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f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ths/bayes-theore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76400"/>
            <a:ext cx="10464800" cy="2841625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cap="none" dirty="0" smtClean="0">
                <a:latin typeface="Times New Roman" pitchFamily="18" charset="0"/>
                <a:cs typeface="Times New Roman" pitchFamily="18" charset="0"/>
              </a:rPr>
              <a:t>Machine Learning and Data Mining Basics</a:t>
            </a:r>
            <a:endParaRPr lang="en-US" sz="3200" cap="none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39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rtl="0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Course Goal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11001207" cy="3983103"/>
          </a:xfrm>
        </p:spPr>
        <p:txBody>
          <a:bodyPr anchor="t">
            <a:no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Differentiate Data Mining and Machine Learning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Understand the scope, purpose, and key differences.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Understand Data Representation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Learn how data is structured, formatted, and encoded for ML.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Master Data Preprocessing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Handle missing data, scaling, normalization, and feature engineering.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Comprehend the Machine Learning Life Cycle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From problem definition to model deployment.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Identify Types of Machine Learning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Supervised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Semi-supervised, Unsupervised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Reinforcement Learning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Implement Core ML Algorithms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Linear &amp; logistic regression, decision trees, SVM, KNN, Naïve Bayes, etc.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Evaluate ML Models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Metrics, validation, cross-validation, and performance improvement techniques.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Introduction to Deep Learning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Basics of neural networks and their applications.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Develop Practical Thinking Skills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Learn frameworks for problem-solving and common beginner pitfalls.</a:t>
            </a:r>
          </a:p>
        </p:txBody>
      </p:sp>
    </p:spTree>
    <p:extLst>
      <p:ext uri="{BB962C8B-B14F-4D97-AF65-F5344CB8AC3E}">
        <p14:creationId xmlns:p14="http://schemas.microsoft.com/office/powerpoint/2010/main" val="327346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Course Materials and References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1600200"/>
            <a:ext cx="3338110" cy="4114800"/>
          </a:xfrm>
        </p:spPr>
      </p:pic>
      <p:sp>
        <p:nvSpPr>
          <p:cNvPr id="6" name="TextBox 5"/>
          <p:cNvSpPr txBox="1"/>
          <p:nvPr/>
        </p:nvSpPr>
        <p:spPr>
          <a:xfrm>
            <a:off x="6248400" y="60198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Introduction to Data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Mining by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Pang-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Tan Michael Steinbach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Vipin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028062"/>
            <a:ext cx="5375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Mining Concepts 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Techniques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Jiawei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Han, ‏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Micheline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Kamber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‏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Jian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Pei ·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215694"/>
            <a:ext cx="3914775" cy="458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9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Course Materials and References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2926690" cy="3686008"/>
          </a:xfrm>
        </p:spPr>
      </p:pic>
      <p:sp>
        <p:nvSpPr>
          <p:cNvPr id="4" name="TextBox 3"/>
          <p:cNvSpPr txBox="1"/>
          <p:nvPr/>
        </p:nvSpPr>
        <p:spPr>
          <a:xfrm>
            <a:off x="870856" y="5620526"/>
            <a:ext cx="3396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Introduction to Machine Learning with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Python by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Andreas C. Muller and Sarah Guido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76400"/>
            <a:ext cx="2819400" cy="36976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564066"/>
            <a:ext cx="2752891" cy="3809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11486" y="5649555"/>
            <a:ext cx="342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Hands-On Machine Learning with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-Learn and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by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Aurélien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Géron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9343" y="5675438"/>
            <a:ext cx="3645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Introduction to Machine Learning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Ethem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Alpaydın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42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Outline</a:t>
            </a:r>
            <a:endParaRPr lang="en-US" sz="32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0972800" cy="4876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NOT linearly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separable Problems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Decision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Trees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Decision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Tree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Terminology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Impurity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Tree Pruning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Naïve Bayes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Bayes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Bayes'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Theorem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Numerical Example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Advantages of Naive Bayes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Disadvantages of Naive Bayes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5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What if the data is NOT linearly separable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Logistic regression gives one straight boundary.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What if we want boundaries that bend?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 descr="Understanding Linear Separability and the XOR Problem using Perceptron(s) |  by Partha Sarath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969" y="2682230"/>
            <a:ext cx="6746031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‪Linearly separable Patterns‬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2362200"/>
            <a:ext cx="3883025" cy="321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10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decision tree is a graphical representation of all the possible solutions to 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decision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based on a certain conditions.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sequence of questions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It’s just nested if-else rules.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356" y="2462283"/>
            <a:ext cx="7848600" cy="310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5209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Decision Tree Terminology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24012"/>
            <a:ext cx="6858000" cy="482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73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Decision Tree Terminology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Tx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Root Node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 Represents the entire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dataset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Decision Nodes: 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nodes where the dataset is further split based on a certain feature.</a:t>
            </a:r>
          </a:p>
          <a:p>
            <a:pPr>
              <a:buClrTx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Leaf Nodes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represent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final output or the decision of the 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They do not split further and contain the outcome of the decision path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Tx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Branch: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connection between nodes, representing the outcome of a test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Tx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Parent Node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Char char="-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Any node that splits into one or more branches</a:t>
            </a:r>
          </a:p>
          <a:p>
            <a:pPr>
              <a:buClrTx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Child Node </a:t>
            </a:r>
          </a:p>
          <a:p>
            <a:pPr lvl="1">
              <a:buFontTx/>
              <a:buChar char="-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 Created from a parent node after a split</a:t>
            </a:r>
          </a:p>
        </p:txBody>
      </p:sp>
    </p:spTree>
    <p:extLst>
      <p:ext uri="{BB962C8B-B14F-4D97-AF65-F5344CB8AC3E}">
        <p14:creationId xmlns:p14="http://schemas.microsoft.com/office/powerpoint/2010/main" val="2962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Algorithm for Decision Tree Induction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365760">
              <a:buClrTx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(a greedy algorithm)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Tree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constructed in a top-down recursive divide-and-conquer manner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At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start, all the training examples are at the root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Attributes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categorical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continuous-valued, they are discretized in advance)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Examples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partitioned recursively based on selected attributes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Test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attributes are selected on the basis of a heuristic or statistical measure (e.g., information gain)</a:t>
            </a:r>
          </a:p>
          <a:p>
            <a:pPr marL="274320" indent="-365760">
              <a:buClrTx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Conditions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stopping partitioning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 All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samples for a given node belong to the same class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There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no remaining attributes for further partitioning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majority voting 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employed for classifying the leaf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There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no samples left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23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815078"/>
              </p:ext>
            </p:extLst>
          </p:nvPr>
        </p:nvGraphicFramePr>
        <p:xfrm>
          <a:off x="536977" y="2438400"/>
          <a:ext cx="8138160" cy="40233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Weekend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Weather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Parents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Money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Decision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Tennis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Stay In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W7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W8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Shopping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W9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W10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Tennis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828800"/>
            <a:ext cx="5213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Goal: Predict whether someone will like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8774373" y="2419628"/>
            <a:ext cx="318902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possible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font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 fontAlgn="ctr"/>
            <a:r>
              <a:rPr lang="en-US" sz="2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Cinema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Tennis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ctr"/>
            <a:r>
              <a:rPr lang="en-US" sz="2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Stay </a:t>
            </a: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Shopping.</a:t>
            </a:r>
          </a:p>
          <a:p>
            <a:pPr algn="ctr" fontAlgn="ctr"/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ctr"/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instances of </a:t>
            </a:r>
            <a:r>
              <a:rPr lang="en-US" sz="20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Cinema</a:t>
            </a:r>
          </a:p>
          <a:p>
            <a:pPr algn="ctr" fontAlgn="ctr"/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instances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Tennis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ctr"/>
            <a:r>
              <a:rPr lang="en-US" sz="2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instance of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Stay </a:t>
            </a:r>
            <a:r>
              <a:rPr lang="en-US" sz="2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</a:t>
            </a:r>
          </a:p>
          <a:p>
            <a:pPr algn="ctr" fontAlgn="ctr"/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instance of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Shopping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 fontAlgn="ctr"/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783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What Is Impurity?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Compute the </a:t>
                </a:r>
                <a:r>
                  <a:rPr lang="en-US" b="1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b="1" dirty="0" smtClean="0">
                    <a:latin typeface="Times New Roman" pitchFamily="18" charset="0"/>
                    <a:cs typeface="Times New Roman" pitchFamily="18" charset="0"/>
                  </a:rPr>
                  <a:t>Index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the overall collection of training samples:</a:t>
                </a: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A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node is </a:t>
                </a:r>
                <a:r>
                  <a:rPr lang="en-US" b="1" dirty="0">
                    <a:latin typeface="Times New Roman" pitchFamily="18" charset="0"/>
                    <a:cs typeface="Times New Roman" pitchFamily="18" charset="0"/>
                  </a:rPr>
                  <a:t>pure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if everyone in it has the same label.</a:t>
                </a:r>
              </a:p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A node is </a:t>
                </a:r>
                <a:r>
                  <a:rPr lang="en-US" b="1" dirty="0">
                    <a:latin typeface="Times New Roman" pitchFamily="18" charset="0"/>
                    <a:cs typeface="Times New Roman" pitchFamily="18" charset="0"/>
                  </a:rPr>
                  <a:t>impure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if it mixes Yes and No</a:t>
                </a:r>
              </a:p>
              <a:p>
                <a:pPr marL="365760" indent="-457200"/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365760" indent="-457200">
                  <a:buFont typeface="Wingdings" pitchFamily="2" charset="2"/>
                  <a:buChar char="v"/>
                </a:pPr>
                <a:r>
                  <a:rPr lang="en-US" b="1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b="1" dirty="0">
                    <a:latin typeface="Times New Roman" pitchFamily="18" charset="0"/>
                    <a:cs typeface="Times New Roman" pitchFamily="18" charset="0"/>
                  </a:rPr>
                  <a:t> impurity: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0A0A0A"/>
                          </a:solidFill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solidFill>
                            <a:srgbClr val="0A0A0A"/>
                          </a:solidFill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solidFill>
                            <a:srgbClr val="0A0A0A"/>
                          </a:solidFill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solidFill>
                            <a:srgbClr val="0A0A0A"/>
                          </a:solidFill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 dirty="0">
                              <a:solidFill>
                                <a:srgbClr val="0A0A0A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solidFill>
                                <a:srgbClr val="0A0A0A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i="1" dirty="0">
                              <a:solidFill>
                                <a:srgbClr val="0A0A0A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 dirty="0">
                              <a:solidFill>
                                <a:srgbClr val="0A0A0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solidFill>
                                <a:srgbClr val="0A0A0A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solidFill>
                                    <a:srgbClr val="0A0A0A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rgbClr val="0A0A0A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rgbClr val="0A0A0A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rgbClr val="0A0A0A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rgbClr val="0A0A0A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rgbClr val="0A0A0A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rgbClr val="0A0A0A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𝐺𝑖𝑛𝑖</m:t>
                      </m:r>
                      <m: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10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10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10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10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  <m:r>
                        <a:rPr lang="en-US" i="1" dirty="0">
                          <a:latin typeface="Cambria Math"/>
                        </a:rPr>
                        <m:t>.</m:t>
                      </m:r>
                      <m:r>
                        <a:rPr lang="en-US" i="1" dirty="0">
                          <a:latin typeface="Cambria Math"/>
                        </a:rPr>
                        <m:t>58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- 0 means perfect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purity 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Tx/>
                  <a:buChar char="-"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0.5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means maximum impurity (for binary classification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).</a:t>
                </a:r>
              </a:p>
              <a:p>
                <a:pPr>
                  <a:buFontTx/>
                  <a:buChar char="-"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The higher the Entropy (or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Index), the more random (mixed) the data is</a:t>
                </a:r>
              </a:p>
              <a:p>
                <a:pPr marL="0" indent="0">
                  <a:buNone/>
                </a:pP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fontAlgn="ctr"/>
                <a:endParaRPr lang="en-US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667" t="-750" b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18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41974"/>
                <a:ext cx="10972800" cy="54350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Computation of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index for money attribute: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Has </a:t>
                </a:r>
                <a:r>
                  <a:rPr 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two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possible values: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Rich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7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Instances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) , 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Poor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Instances)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Money=Poor              3 “Cinema”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𝐺</m:t>
                      </m:r>
                      <m:r>
                        <a:rPr lang="en-US" b="0" i="1" dirty="0" smtClean="0">
                          <a:latin typeface="Cambria Math"/>
                        </a:rPr>
                        <m:t>(</m:t>
                      </m:r>
                      <m:r>
                        <a:rPr lang="en-US" b="0" i="1" dirty="0" smtClean="0">
                          <a:latin typeface="Cambria Math"/>
                        </a:rPr>
                        <m:t>𝑠</m:t>
                      </m:r>
                      <m:r>
                        <a:rPr lang="en-US" b="0" i="1" dirty="0" smtClean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Money=Rich              3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“Cinema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 , 2 “Tennis”, 1 “Stay In”,1 “Shopping”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b="0" i="1" dirty="0" smtClean="0">
                          <a:latin typeface="Cambria Math"/>
                        </a:rPr>
                        <m:t>(</m:t>
                      </m:r>
                      <m:r>
                        <a:rPr lang="en-US" b="0" i="1" dirty="0" smtClean="0">
                          <a:latin typeface="Cambria Math"/>
                        </a:rPr>
                        <m:t>𝑠</m:t>
                      </m:r>
                      <m:r>
                        <a:rPr lang="en-US" b="0" i="1" dirty="0" smtClean="0">
                          <a:latin typeface="Cambria Math"/>
                        </a:rPr>
                        <m:t>)</m:t>
                      </m:r>
                      <m: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  <m:r>
                        <a:rPr lang="en-US" i="1" dirty="0">
                          <a:latin typeface="Cambria Math"/>
                        </a:rPr>
                        <m:t>.</m:t>
                      </m:r>
                      <m:r>
                        <a:rPr lang="en-US" b="0" i="1" dirty="0" smtClean="0">
                          <a:latin typeface="Cambria Math"/>
                        </a:rPr>
                        <m:t>694</m:t>
                      </m:r>
                    </m:oMath>
                  </m:oMathPara>
                </a14:m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:r>
                  <a:rPr 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Weighted 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verage </a:t>
                </a:r>
                <a:r>
                  <a:rPr lang="en-US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              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𝑙𝑒𝑓𝑡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𝑡𝑜𝑡𝑎𝑙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𝑙𝑒𝑓𝑡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𝑟𝑖𝑔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𝑡𝑜𝑡𝑎𝑙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  <a:cs typeface="Times New Roman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𝑟𝑖𝑔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Weighted Average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Money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)  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694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486</m:t>
                    </m:r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41974"/>
                <a:ext cx="10972800" cy="5435025"/>
              </a:xfrm>
              <a:blipFill rotWithShape="1">
                <a:blip r:embed="rId2"/>
                <a:stretch>
                  <a:fillRect l="-833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2971800" y="3124200"/>
            <a:ext cx="7620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971800" y="2057400"/>
            <a:ext cx="7620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800600" y="4487975"/>
            <a:ext cx="7620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58421" y="457200"/>
            <a:ext cx="38587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spc="-100" dirty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Compute Root Impurity</a:t>
            </a:r>
          </a:p>
        </p:txBody>
      </p:sp>
    </p:spTree>
    <p:extLst>
      <p:ext uri="{BB962C8B-B14F-4D97-AF65-F5344CB8AC3E}">
        <p14:creationId xmlns:p14="http://schemas.microsoft.com/office/powerpoint/2010/main" val="282109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60662"/>
                <a:ext cx="10972800" cy="48768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Same For Parents and 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Weather</a:t>
                </a:r>
              </a:p>
              <a:p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Weather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Has </a:t>
                </a:r>
                <a:r>
                  <a:rPr lang="en-US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Three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possible values: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Sunny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Instances) , 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Windy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Instances),</a:t>
                </a:r>
                <a:r>
                  <a:rPr lang="en-US" dirty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Rainy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(3</a:t>
                </a:r>
                <a:r>
                  <a:rPr lang="en-US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Instances)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Weather = Sunny                 1 “Cinema” and  2 “Tennis”         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/>
                        </a:rPr>
                        <m:t>+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  <m:r>
                        <a:rPr lang="en-US" b="0" i="1" dirty="0" smtClean="0">
                          <a:latin typeface="Cambria Math"/>
                        </a:rPr>
                        <m:t>.</m:t>
                      </m:r>
                      <m:r>
                        <a:rPr lang="en-US" b="0" i="1" dirty="0" smtClean="0">
                          <a:latin typeface="Cambria Math"/>
                        </a:rPr>
                        <m:t>444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Weather=Windy                3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“Cinema” ,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“Shopping”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  <m:r>
                        <a:rPr lang="en-US" i="1" dirty="0">
                          <a:latin typeface="Cambria Math"/>
                        </a:rPr>
                        <m:t>.</m:t>
                      </m:r>
                      <m:r>
                        <a:rPr lang="en-US" b="0" i="0" dirty="0" smtClean="0">
                          <a:latin typeface="Cambria Math"/>
                        </a:rPr>
                        <m:t>375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Weather=Rainy               2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“Cinema” , 1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“Stay In”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  <m:r>
                        <a:rPr lang="en-US" i="1" dirty="0">
                          <a:latin typeface="Cambria Math"/>
                        </a:rPr>
                        <m:t>.</m:t>
                      </m:r>
                      <m:r>
                        <a:rPr lang="en-US" i="1" dirty="0">
                          <a:latin typeface="Cambria Math"/>
                        </a:rPr>
                        <m:t>444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Weighted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Average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Weather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) 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444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375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444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b="0" i="0" smtClean="0">
                        <a:latin typeface="Cambria Math"/>
                        <a:cs typeface="Times New Roman" pitchFamily="18" charset="0"/>
                      </a:rPr>
                      <m:t>416</m:t>
                    </m:r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60662"/>
                <a:ext cx="10972800" cy="4876800"/>
              </a:xfrm>
              <a:blipFill rotWithShape="1">
                <a:blip r:embed="rId2"/>
                <a:stretch>
                  <a:fillRect l="-556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/>
          <p:cNvSpPr/>
          <p:nvPr/>
        </p:nvSpPr>
        <p:spPr>
          <a:xfrm>
            <a:off x="2994545" y="2286000"/>
            <a:ext cx="7620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27442" y="3153098"/>
            <a:ext cx="7620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2827360" y="4038600"/>
            <a:ext cx="76200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28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43000"/>
                <a:ext cx="10972800" cy="4876800"/>
              </a:xfrm>
            </p:spPr>
            <p:txBody>
              <a:bodyPr/>
              <a:lstStyle/>
              <a:p>
                <a:pPr>
                  <a:buClrTx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Money -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index 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694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486</m:t>
                    </m:r>
                  </m:oMath>
                </a14:m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ClrTx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Weather -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ndex 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444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375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444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>
                        <a:latin typeface="Cambria Math"/>
                        <a:cs typeface="Times New Roman" pitchFamily="18" charset="0"/>
                      </a:rPr>
                      <m:t>416</m:t>
                    </m:r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ClrTx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Parents -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index 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num>
                      <m:den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10</m:t>
                        </m:r>
                      </m:den>
                    </m:f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72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36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  <a:sym typeface="Wingdings"/>
                  </a:rPr>
                  <a:t></a:t>
                </a:r>
              </a:p>
              <a:p>
                <a:pPr marL="0" indent="0" algn="ctr">
                  <a:buNone/>
                </a:pP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Parents is selected as it has the smallest </a:t>
                </a:r>
                <a:r>
                  <a:rPr lang="en-US" dirty="0" err="1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Gini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 Index</a:t>
                </a:r>
                <a:endParaRPr lang="en-US" dirty="0">
                  <a:solidFill>
                    <a:srgbClr val="00B0F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43000"/>
                <a:ext cx="10972800" cy="4876800"/>
              </a:xfrm>
              <a:blipFill rotWithShape="1">
                <a:blip r:embed="rId2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363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81600" y="685800"/>
            <a:ext cx="16764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Parents</a:t>
            </a:r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934160"/>
              </p:ext>
            </p:extLst>
          </p:nvPr>
        </p:nvGraphicFramePr>
        <p:xfrm>
          <a:off x="152400" y="2362200"/>
          <a:ext cx="5562600" cy="21945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12520"/>
                <a:gridCol w="1112520"/>
                <a:gridCol w="1112520"/>
                <a:gridCol w="1112520"/>
                <a:gridCol w="1112520"/>
              </a:tblGrid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Weekend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Weather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Parents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Money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Decision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2387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650349"/>
              </p:ext>
            </p:extLst>
          </p:nvPr>
        </p:nvGraphicFramePr>
        <p:xfrm>
          <a:off x="6019800" y="2362200"/>
          <a:ext cx="5852160" cy="21945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Weekend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Weather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Parents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Money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Decision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Tennis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Stay In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W7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W8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Shopping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W10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Tennis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8" name="Straight Connector 7"/>
          <p:cNvCxnSpPr>
            <a:stCxn id="4" idx="2"/>
            <a:endCxn id="5" idx="0"/>
          </p:cNvCxnSpPr>
          <p:nvPr/>
        </p:nvCxnSpPr>
        <p:spPr>
          <a:xfrm flipH="1">
            <a:off x="2933700" y="1295400"/>
            <a:ext cx="30861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2"/>
            <a:endCxn id="6" idx="0"/>
          </p:cNvCxnSpPr>
          <p:nvPr/>
        </p:nvCxnSpPr>
        <p:spPr>
          <a:xfrm>
            <a:off x="6019800" y="1295400"/>
            <a:ext cx="292608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2040" y="1644134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Yes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34206" y="156793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No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2824" y="4800600"/>
            <a:ext cx="551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No computation is needed here since it is always </a:t>
            </a: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Cinema.</a:t>
            </a:r>
            <a:endParaRPr lang="en-US" sz="1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14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10972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Computation for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Index for Parents=No | Weather Attribute</a:t>
                </a: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Weather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=Sunny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Instances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both are “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Tennis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Weather</a:t>
                </a:r>
                <a:r>
                  <a:rPr lang="en-US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=Rainy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“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Stay In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 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1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Weather</a:t>
                </a:r>
                <a:r>
                  <a:rPr lang="en-US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=Windy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“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Cinema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 , 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“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Shopping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+(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b="0" i="1" dirty="0" smtClean="0">
                          <a:latin typeface="Cambria Math"/>
                        </a:rPr>
                        <m:t>0</m:t>
                      </m:r>
                      <m:r>
                        <a:rPr lang="en-US" b="0" i="1" dirty="0" smtClean="0">
                          <a:latin typeface="Cambria Math"/>
                        </a:rPr>
                        <m:t>.</m:t>
                      </m:r>
                      <m:r>
                        <a:rPr lang="en-US" b="0" i="1" dirty="0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Weighted Average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(Parents=0|Weather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)  =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5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10972800" cy="4876800"/>
              </a:xfrm>
              <a:blipFill rotWithShape="1">
                <a:blip r:embed="rId2"/>
                <a:stretch>
                  <a:fillRect l="-833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118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914400"/>
                <a:ext cx="10972800" cy="4876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Computation for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Index for Parents=No |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Money Attribute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Money =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Rich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“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Tennis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”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“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Stay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In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”, 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”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Shopping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𝐺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𝑠</m:t>
                    </m:r>
                    <m:r>
                      <a:rPr lang="en-US" b="0" i="1" dirty="0" smtClean="0">
                        <a:latin typeface="Cambria Math"/>
                      </a:rPr>
                      <m:t>)=</m:t>
                    </m:r>
                    <m:r>
                      <a:rPr lang="en-US" i="1" dirty="0">
                        <a:latin typeface="Cambria Math"/>
                      </a:rPr>
                      <m:t>1</m:t>
                    </m:r>
                    <m:r>
                      <a:rPr lang="en-US" i="1" dirty="0">
                        <a:latin typeface="Cambria Math"/>
                      </a:rPr>
                      <m:t>−[(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+(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+(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4</m:t>
                            </m:r>
                          </m:den>
                        </m:f>
                        <m:r>
                          <a:rPr lang="en-US" i="1" dirty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+]=</m:t>
                    </m:r>
                    <m:r>
                      <a:rPr lang="en-US" i="1" dirty="0">
                        <a:latin typeface="Cambria Math"/>
                      </a:rPr>
                      <m:t>0</m:t>
                    </m:r>
                    <m:r>
                      <a:rPr lang="en-US" i="1" dirty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>
                    <a:latin typeface="Times New Roman" pitchFamily="18" charset="0"/>
                  </a:rPr>
                  <a:t>625</a:t>
                </a:r>
                <a:endParaRPr lang="en-US" dirty="0">
                  <a:latin typeface="Times New Roman" pitchFamily="18" charset="0"/>
                </a:endParaRP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Money = 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Poor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>
                    <a:solidFill>
                      <a:srgbClr val="00B05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“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Cinema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” 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𝐺</m:t>
                      </m:r>
                      <m:r>
                        <a:rPr lang="en-U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𝑠</m:t>
                      </m:r>
                      <m:r>
                        <a:rPr lang="en-US" i="1" dirty="0">
                          <a:latin typeface="Cambria Math"/>
                        </a:rPr>
                        <m:t>)=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  <m:r>
                        <a:rPr lang="en-US" i="1" dirty="0">
                          <a:latin typeface="Cambria Math"/>
                        </a:rPr>
                        <m:t>−[(</m:t>
                      </m:r>
                      <m:sSup>
                        <m:sSupPr>
                          <m:ctrlPr>
                            <a:rPr lang="en-US" i="1" dirty="0">
                              <a:latin typeface="Cambria Math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i="1" dirty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den>
                          </m:f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]=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Weighted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Average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(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Parents=0|Money) 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den>
                    </m:f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1" smtClean="0">
                        <a:latin typeface="Cambria Math"/>
                        <a:cs typeface="Times New Roman" pitchFamily="18" charset="0"/>
                      </a:rPr>
                      <m:t>625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cs typeface="Times New Roman" pitchFamily="18" charset="0"/>
                          </a:rPr>
                          <m:t>5</m:t>
                        </m:r>
                      </m:den>
                    </m:f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∗</m:t>
                    </m:r>
                    <m:r>
                      <a:rPr lang="en-US" i="1" smtClean="0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=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0</m:t>
                    </m:r>
                    <m:r>
                      <a:rPr lang="en-US" i="1">
                        <a:latin typeface="Cambria Math"/>
                        <a:cs typeface="Times New Roman" pitchFamily="18" charset="0"/>
                      </a:rPr>
                      <m:t>.</m:t>
                    </m:r>
                    <m:r>
                      <a:rPr lang="en-US" b="0" i="0" smtClean="0">
                        <a:latin typeface="Cambria Math"/>
                        <a:cs typeface="Times New Roman" pitchFamily="18" charset="0"/>
                      </a:rPr>
                      <m:t>5</m:t>
                    </m:r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Parents=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No|Weather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–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index = 0.2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  <a:sym typeface="Wingdings"/>
                  </a:rPr>
                  <a:t>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For Parents=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No|Money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–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Gini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ndex = 0.5</a:t>
                </a:r>
              </a:p>
              <a:p>
                <a:pPr marL="0" indent="0" algn="ctr">
                  <a:buNone/>
                </a:pP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Weather is </a:t>
                </a:r>
                <a:r>
                  <a:rPr lang="en-US" dirty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selected as it has the smallest </a:t>
                </a:r>
                <a:r>
                  <a:rPr lang="en-US" dirty="0" err="1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Gini</a:t>
                </a:r>
                <a:r>
                  <a:rPr lang="en-US" dirty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 </a:t>
                </a:r>
                <a:r>
                  <a:rPr lang="en-US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  <a:sym typeface="Wingdings"/>
                  </a:rPr>
                  <a:t>index</a:t>
                </a:r>
                <a:endParaRPr lang="en-US" dirty="0">
                  <a:solidFill>
                    <a:srgbClr val="00B0F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14400"/>
                <a:ext cx="10972800" cy="4876800"/>
              </a:xfrm>
              <a:blipFill rotWithShape="1">
                <a:blip r:embed="rId2"/>
                <a:stretch>
                  <a:fillRect l="-833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629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706650"/>
              </p:ext>
            </p:extLst>
          </p:nvPr>
        </p:nvGraphicFramePr>
        <p:xfrm>
          <a:off x="457200" y="914400"/>
          <a:ext cx="5852160" cy="10972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Weekend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Weather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Parents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Money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Decision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Tennis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Sunny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Tennis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718"/>
              </p:ext>
            </p:extLst>
          </p:nvPr>
        </p:nvGraphicFramePr>
        <p:xfrm>
          <a:off x="6214520" y="2963310"/>
          <a:ext cx="5852160" cy="73152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Weekend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Weather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Parents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Money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Decision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Rainy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Stay In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4374420"/>
              </p:ext>
            </p:extLst>
          </p:nvPr>
        </p:nvGraphicFramePr>
        <p:xfrm>
          <a:off x="381000" y="4419600"/>
          <a:ext cx="5852160" cy="10972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Weekend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Weather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Parents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Money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Decision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W7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Cinema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Windy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Rich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Shopping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490" y="990600"/>
            <a:ext cx="5202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For Parent =No &amp; Weather =Sunny , All instances are Tennis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" y="3144404"/>
            <a:ext cx="5833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Parent =No &amp; Weather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=Rainy ,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All instances are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Stay In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75490" y="4648200"/>
            <a:ext cx="5164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Parent =No &amp; Weather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=Windy, We need to Split.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536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5400" y="1034169"/>
            <a:ext cx="102002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Parents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>
            <a:stCxn id="4" idx="2"/>
            <a:endCxn id="10" idx="0"/>
          </p:cNvCxnSpPr>
          <p:nvPr/>
        </p:nvCxnSpPr>
        <p:spPr>
          <a:xfrm>
            <a:off x="5615412" y="1434279"/>
            <a:ext cx="1039217" cy="965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2"/>
          </p:cNvCxnSpPr>
          <p:nvPr/>
        </p:nvCxnSpPr>
        <p:spPr>
          <a:xfrm flipH="1">
            <a:off x="4495800" y="1434279"/>
            <a:ext cx="1119612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39071" y="2400153"/>
            <a:ext cx="10311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Weather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44394" y="240015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Cinema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15411" y="3200400"/>
            <a:ext cx="80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Windy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320040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Rainy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77200" y="319357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Sunny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Straight Connector 16"/>
          <p:cNvCxnSpPr>
            <a:stCxn id="10" idx="2"/>
            <a:endCxn id="15" idx="0"/>
          </p:cNvCxnSpPr>
          <p:nvPr/>
        </p:nvCxnSpPr>
        <p:spPr>
          <a:xfrm>
            <a:off x="6654629" y="2769485"/>
            <a:ext cx="1809857" cy="424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0" idx="2"/>
            <a:endCxn id="14" idx="0"/>
          </p:cNvCxnSpPr>
          <p:nvPr/>
        </p:nvCxnSpPr>
        <p:spPr>
          <a:xfrm>
            <a:off x="6654629" y="2769485"/>
            <a:ext cx="571421" cy="430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2"/>
            <a:endCxn id="13" idx="0"/>
          </p:cNvCxnSpPr>
          <p:nvPr/>
        </p:nvCxnSpPr>
        <p:spPr>
          <a:xfrm flipH="1">
            <a:off x="6017316" y="2769485"/>
            <a:ext cx="637313" cy="430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0" y="400633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Stay In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64486" y="4006334"/>
            <a:ext cx="79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Tennis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Connector 27"/>
          <p:cNvCxnSpPr>
            <a:stCxn id="15" idx="2"/>
            <a:endCxn id="26" idx="0"/>
          </p:cNvCxnSpPr>
          <p:nvPr/>
        </p:nvCxnSpPr>
        <p:spPr>
          <a:xfrm>
            <a:off x="8464486" y="3562908"/>
            <a:ext cx="398475" cy="443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" idx="2"/>
            <a:endCxn id="25" idx="0"/>
          </p:cNvCxnSpPr>
          <p:nvPr/>
        </p:nvCxnSpPr>
        <p:spPr>
          <a:xfrm>
            <a:off x="7226050" y="3569732"/>
            <a:ext cx="54502" cy="4366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19121" y="4143528"/>
            <a:ext cx="8643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Money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Connector 36"/>
          <p:cNvCxnSpPr>
            <a:stCxn id="13" idx="2"/>
            <a:endCxn id="35" idx="0"/>
          </p:cNvCxnSpPr>
          <p:nvPr/>
        </p:nvCxnSpPr>
        <p:spPr>
          <a:xfrm flipH="1">
            <a:off x="5651291" y="3569732"/>
            <a:ext cx="366025" cy="573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15081" y="50408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Poor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34923" y="504043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Rich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Connector 40"/>
          <p:cNvCxnSpPr>
            <a:stCxn id="35" idx="2"/>
            <a:endCxn id="39" idx="0"/>
          </p:cNvCxnSpPr>
          <p:nvPr/>
        </p:nvCxnSpPr>
        <p:spPr>
          <a:xfrm flipH="1">
            <a:off x="4745265" y="4512860"/>
            <a:ext cx="906026" cy="527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5" idx="2"/>
            <a:endCxn id="38" idx="0"/>
          </p:cNvCxnSpPr>
          <p:nvPr/>
        </p:nvCxnSpPr>
        <p:spPr>
          <a:xfrm>
            <a:off x="5651291" y="4512860"/>
            <a:ext cx="474132" cy="52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28541" y="5957500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Cinema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1" name="Straight Connector 50"/>
          <p:cNvCxnSpPr>
            <a:stCxn id="38" idx="2"/>
            <a:endCxn id="47" idx="0"/>
          </p:cNvCxnSpPr>
          <p:nvPr/>
        </p:nvCxnSpPr>
        <p:spPr>
          <a:xfrm>
            <a:off x="6125423" y="5410200"/>
            <a:ext cx="293798" cy="547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962400" y="5988278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Shopping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Straight Connector 55"/>
          <p:cNvCxnSpPr>
            <a:stCxn id="39" idx="2"/>
            <a:endCxn id="53" idx="0"/>
          </p:cNvCxnSpPr>
          <p:nvPr/>
        </p:nvCxnSpPr>
        <p:spPr>
          <a:xfrm flipH="1">
            <a:off x="4497162" y="5409765"/>
            <a:ext cx="248103" cy="578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595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74320" indent="-365760">
                  <a:buClrTx/>
                  <a:buFont typeface="Wingdings" pitchFamily="2" charset="2"/>
                  <a:buChar char="v"/>
                </a:pP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Other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statistical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measure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is information gain using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Entropy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m:t>Entropy</m:t>
                      </m:r>
                      <m:r>
                        <a:rPr lang="pt-BR" i="1" dirty="0" smtClean="0">
                          <a:latin typeface="Cambria Math"/>
                        </a:rPr>
                        <m:t>= – </m:t>
                      </m:r>
                      <m:r>
                        <m:rPr>
                          <m:sty m:val="p"/>
                        </m:rPr>
                        <a:rPr lang="pt-BR" i="0" dirty="0">
                          <a:latin typeface="Cambria Math"/>
                        </a:rPr>
                        <m:t>Σ</m:t>
                      </m:r>
                      <m:r>
                        <a:rPr lang="pt-BR" i="1" dirty="0">
                          <a:latin typeface="Cambria Math"/>
                        </a:rPr>
                        <m:t> (</m:t>
                      </m:r>
                      <m:sSub>
                        <m:sSubPr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 dirty="0">
                          <a:latin typeface="Cambria Math"/>
                        </a:rPr>
                        <m:t> ∗</m:t>
                      </m:r>
                      <m:sSub>
                        <m:sSubPr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)</m:t>
                      </m:r>
                      <m:r>
                        <a:rPr lang="pt-BR" i="1" dirty="0">
                          <a:latin typeface="Cambria Math"/>
                        </a:rPr>
                        <m:t>)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itchFamily="18" charset="0"/>
                    <a:cs typeface="Times New Roman" pitchFamily="18" charset="0"/>
                  </a:rPr>
                  <a:t>For binary classification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, the upper bound of Entropy is 1.</a:t>
                </a:r>
              </a:p>
              <a:p>
                <a:pPr marL="0" indent="0">
                  <a:buNone/>
                </a:pPr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274320" indent="-365760">
                  <a:buClrTx/>
                  <a:buFont typeface="Wingdings" pitchFamily="2" charset="2"/>
                  <a:buChar char="v"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A tree can grow until it perfectly fits the training data, which often hurts performance on new data.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This introduces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Overfitting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: Very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deep tree → memorizes training data</a:t>
                </a:r>
              </a:p>
              <a:p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Underfitting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: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Very shallow tree → misses patterns</a:t>
                </a:r>
              </a:p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33" t="-1000" r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006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Tree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To fix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we use Pruning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Pre-pruning (early stopping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Stop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growing the tree when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548640" lvl="1" indent="-365760"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Depth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threshold</a:t>
            </a:r>
          </a:p>
          <a:p>
            <a:pPr marL="548640" lvl="1" indent="-365760"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Samples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threshold</a:t>
            </a:r>
          </a:p>
          <a:p>
            <a:pPr>
              <a:buClrTx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Post-pruning; 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full tree → then remove weak branches.</a:t>
            </a:r>
          </a:p>
        </p:txBody>
      </p:sp>
    </p:spTree>
    <p:extLst>
      <p:ext uri="{BB962C8B-B14F-4D97-AF65-F5344CB8AC3E}">
        <p14:creationId xmlns:p14="http://schemas.microsoft.com/office/powerpoint/2010/main" val="76603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Naïve Bayes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probabilistic classifier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category of a data point using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Bayes</a:t>
            </a:r>
            <a:r>
              <a:rPr lang="en-US" u="sng" dirty="0">
                <a:latin typeface="Times New Roman" pitchFamily="18" charset="0"/>
                <a:cs typeface="Times New Roman" pitchFamily="18" charset="0"/>
                <a:hlinkClick r:id="rId2"/>
              </a:rPr>
              <a:t>'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Theorem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ssumes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that all features are independent of each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 (Naïve Assumption)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/>
              </a:rPr>
              <a:t>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feature contributes to the predictions with no relation between each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text classification and sentiment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analysis.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Principle: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Calculates the probability of a data point belonging to each class based on the observed features. </a:t>
            </a:r>
          </a:p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Then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predicts the class with the highest probability as the final prediction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939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Assumption of Naive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Bayes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 indent="-365760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Feature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independence: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74320" lvl="1" indent="0" fontAlgn="base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assume that each feature (or piece of information) in the data does not affect any other feature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reality, this assumption isn’t always true.</a:t>
            </a:r>
          </a:p>
          <a:p>
            <a:pPr marL="182880" lvl="1" indent="-365760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Continuous features are normally distributed: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74320" lvl="1" indent="0" fontAlgn="base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feature is continuous, then it is assumed to be normally distributed within each class.</a:t>
            </a:r>
          </a:p>
          <a:p>
            <a:pPr marL="182880" lvl="1" indent="-365760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Discrete features have multinomial distributions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74320" lvl="1" indent="0" fontAlgn="base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 If a feature is discrete, then it is assumed to have a multinomial distribution within each class.</a:t>
            </a:r>
          </a:p>
          <a:p>
            <a:pPr marL="182880" lvl="1" indent="-365760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Features are equally important: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74320" lvl="1" indent="0" fontAlgn="base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features are assumed to contribute equally to the prediction of the class label.</a:t>
            </a:r>
          </a:p>
          <a:p>
            <a:pPr marL="182880" lvl="1" indent="-365760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missing data: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74320" lvl="1" indent="0" fontAlgn="base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 should not contain any missing values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87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Bayes'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Theorem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11734800" cy="51054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Helps in calculating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conditional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probabilities.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Conditional probability: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the probability of an event occurring given that another event has already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occurred.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43200"/>
            <a:ext cx="7848600" cy="332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7658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0" i="0" smtClean="0">
                        <a:latin typeface="Times New Roman" pitchFamily="18" charset="0"/>
                        <a:cs typeface="Times New Roman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3200">
                        <a:latin typeface="Times New Roman" pitchFamily="18" charset="0"/>
                        <a:cs typeface="Times New Roman" pitchFamily="18" charset="0"/>
                      </a:rPr>
                      <m:t>efin</m:t>
                    </m:r>
                    <m:r>
                      <m:rPr>
                        <m:nor/>
                      </m:rPr>
                      <a:rPr lang="en-US" sz="3200" b="0" i="0" smtClean="0">
                        <a:latin typeface="Times New Roman" pitchFamily="18" charset="0"/>
                        <a:cs typeface="Times New Roman" pitchFamily="18" charset="0"/>
                      </a:rPr>
                      <m:t>ition</m:t>
                    </m:r>
                  </m:oMath>
                </a14:m>
                <a:r>
                  <a:rPr lang="en-US" sz="3200" dirty="0" smtClean="0"/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It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defined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as</m:t>
                      </m:r>
                      <m:r>
                        <m:rPr>
                          <m:nor/>
                        </m:rP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m:t>: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>
                          <a:latin typeface="Cambria Math"/>
                        </a:rPr>
                        <m:t>𝑃</m:t>
                      </m:r>
                      <m:r>
                        <a:rPr lang="es-ES" i="1" dirty="0"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latin typeface="Cambria Math"/>
                        </a:rPr>
                        <m:t>𝑋</m:t>
                      </m:r>
                      <m:r>
                        <a:rPr lang="es-ES" i="1" dirty="0" err="1">
                          <a:latin typeface="Cambria Math"/>
                        </a:rPr>
                        <m:t>∣</m:t>
                      </m:r>
                      <m:r>
                        <a:rPr lang="en-US" i="1" dirty="0">
                          <a:latin typeface="Cambria Math"/>
                        </a:rPr>
                        <m:t>𝑌</m:t>
                      </m:r>
                      <m:r>
                        <a:rPr lang="es-ES" i="1" dirty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s-ES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 dirty="0">
                              <a:latin typeface="Cambria Math"/>
                            </a:rPr>
                            <m:t>𝑃</m:t>
                          </m:r>
                          <m:r>
                            <a:rPr lang="es-ES" i="1" dirty="0">
                              <a:latin typeface="Cambria Math"/>
                            </a:rPr>
                            <m:t>(</m:t>
                          </m:r>
                          <m:r>
                            <a:rPr lang="en-US" i="1" dirty="0">
                              <a:latin typeface="Cambria Math"/>
                            </a:rPr>
                            <m:t>𝑌</m:t>
                          </m:r>
                          <m:r>
                            <a:rPr lang="es-ES" i="1" dirty="0">
                              <a:latin typeface="Cambria Math"/>
                            </a:rPr>
                            <m:t>∣</m:t>
                          </m:r>
                          <m:r>
                            <a:rPr lang="en-US" i="1" dirty="0">
                              <a:latin typeface="Cambria Math"/>
                            </a:rPr>
                            <m:t>𝑋</m:t>
                          </m:r>
                          <m:r>
                            <a:rPr lang="es-ES" i="1" dirty="0">
                              <a:latin typeface="Cambria Math"/>
                            </a:rPr>
                            <m:t>)⋅</m:t>
                          </m:r>
                          <m:r>
                            <a:rPr lang="es-ES" i="1" dirty="0">
                              <a:latin typeface="Cambria Math"/>
                            </a:rPr>
                            <m:t>𝑃</m:t>
                          </m:r>
                          <m:r>
                            <a:rPr lang="es-ES" i="1" dirty="0">
                              <a:latin typeface="Cambria Math"/>
                            </a:rPr>
                            <m:t>(</m:t>
                          </m:r>
                          <m:r>
                            <a:rPr lang="en-US" i="1" dirty="0">
                              <a:latin typeface="Cambria Math"/>
                            </a:rPr>
                            <m:t>𝑋</m:t>
                          </m:r>
                          <m:r>
                            <a:rPr lang="es-ES" i="1" dirty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s-ES" i="1" dirty="0">
                              <a:latin typeface="Cambria Math"/>
                            </a:rPr>
                            <m:t>𝑃</m:t>
                          </m:r>
                          <m:r>
                            <a:rPr lang="es-ES" i="1" dirty="0">
                              <a:latin typeface="Cambria Math"/>
                            </a:rPr>
                            <m:t>(</m:t>
                          </m:r>
                          <m:r>
                            <a:rPr lang="en-US" i="1" dirty="0">
                              <a:latin typeface="Cambria Math"/>
                            </a:rPr>
                            <m:t>𝑌</m:t>
                          </m:r>
                          <m:r>
                            <a:rPr lang="es-ES" i="1" dirty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s-ES" i="1" dirty="0">
                          <a:latin typeface="Cambria Math"/>
                        </a:rPr>
                        <m:t>​</m:t>
                      </m:r>
                    </m:oMath>
                  </m:oMathPara>
                </a14:m>
                <a:r>
                  <a:rPr lang="es-ES" i="1" dirty="0"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s-ES" i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Where:</a:t>
                </a:r>
              </a:p>
              <a:p>
                <a:pPr lvl="1" fontAlgn="base"/>
                <a:r>
                  <a:rPr lang="en-US" i="1" dirty="0" smtClean="0">
                    <a:latin typeface="Times New Roman" pitchFamily="18" charset="0"/>
                    <a:cs typeface="Times New Roman" pitchFamily="18" charset="0"/>
                  </a:rPr>
                  <a:t>P (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X∣Y)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: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conditional probability of event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occurring given that event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has occurred (posterior probability)</a:t>
                </a:r>
              </a:p>
              <a:p>
                <a:pPr lvl="1" fontAlgn="base"/>
                <a:r>
                  <a:rPr lang="en-US" i="1" dirty="0" smtClean="0">
                    <a:latin typeface="Times New Roman" pitchFamily="18" charset="0"/>
                    <a:cs typeface="Times New Roman" pitchFamily="18" charset="0"/>
                  </a:rPr>
                  <a:t>P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Y∣X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) : probability of event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occurring given that event A has already occurred (likelihood)</a:t>
                </a:r>
              </a:p>
              <a:p>
                <a:pPr lvl="1" fontAlgn="base"/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P(X)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: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prior probability of event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, before considering any new evidence.</a:t>
                </a:r>
              </a:p>
              <a:p>
                <a:pPr lvl="1" fontAlgn="base"/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P(Y)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: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probability of event </a:t>
                </a:r>
                <a:r>
                  <a:rPr lang="en-US" b="1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176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the chain rule, the likelihood P(X ∣ y) can be decomposed as: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because of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Naive’s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conditional independence assumption, the conditional probabilities are independent of each other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371" y="2146527"/>
            <a:ext cx="60960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190999"/>
            <a:ext cx="4191000" cy="707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688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Thus, by conditional independence, we have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And as denominator remains constant for all values, the posterior probability can then be:</a:t>
            </a:r>
          </a:p>
          <a:p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502" y="2133600"/>
            <a:ext cx="648652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568" y="4114800"/>
            <a:ext cx="6124575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4180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14674"/>
            <a:ext cx="6019800" cy="528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1447800"/>
            <a:ext cx="49530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Given Outlook, Temperature,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Humidity and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Wind Information, we want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carry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out prediction for Play: Yes or No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Mathematically, which one is greater</a:t>
            </a:r>
          </a:p>
          <a:p>
            <a:pPr lvl="1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- P(Play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Yes | Outlook, Temp., Humidity, Wind)</a:t>
            </a:r>
          </a:p>
          <a:p>
            <a:pPr lvl="1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- P(Play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No | Outlook, Temp., Humidity, Wind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 for Sunny outlook, High humidity, Cool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temperature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Weak wind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• Predict the most likely.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509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10972800" cy="6096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Calculate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frequency table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all features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9" y="1035487"/>
            <a:ext cx="5591175" cy="566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247" y="827594"/>
            <a:ext cx="3751943" cy="5875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6172200" y="3352800"/>
            <a:ext cx="1295400" cy="47302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43557" y="4027714"/>
            <a:ext cx="9452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Training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308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10972800" cy="6096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Calculate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frequency table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all features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29" y="1035487"/>
            <a:ext cx="5591175" cy="566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6012090" y="3352800"/>
            <a:ext cx="990600" cy="47302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57431" y="3869370"/>
            <a:ext cx="9452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Training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559082"/>
              </p:ext>
            </p:extLst>
          </p:nvPr>
        </p:nvGraphicFramePr>
        <p:xfrm>
          <a:off x="7162800" y="457200"/>
          <a:ext cx="48768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13"/>
                <a:gridCol w="1291987"/>
                <a:gridCol w="1371600"/>
                <a:gridCol w="1295400"/>
              </a:tblGrid>
              <a:tr h="27432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Frequency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7432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743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Outlook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Sunny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133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Overcast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Rain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571818"/>
              </p:ext>
            </p:extLst>
          </p:nvPr>
        </p:nvGraphicFramePr>
        <p:xfrm>
          <a:off x="7162800" y="2191704"/>
          <a:ext cx="4876800" cy="1768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13"/>
                <a:gridCol w="1291987"/>
                <a:gridCol w="1371600"/>
                <a:gridCol w="1295400"/>
              </a:tblGrid>
              <a:tr h="335533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Frequency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35533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5533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Temp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Hot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3553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Mild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3553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Cold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9966"/>
              </p:ext>
            </p:extLst>
          </p:nvPr>
        </p:nvGraphicFramePr>
        <p:xfrm>
          <a:off x="7162800" y="3945617"/>
          <a:ext cx="48768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371600"/>
                <a:gridCol w="1295400"/>
              </a:tblGrid>
              <a:tr h="31438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Frequency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14388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42969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Humidity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High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42969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Normal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828246"/>
              </p:ext>
            </p:extLst>
          </p:nvPr>
        </p:nvGraphicFramePr>
        <p:xfrm>
          <a:off x="7162800" y="5455920"/>
          <a:ext cx="48768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219200"/>
                <a:gridCol w="1447800"/>
              </a:tblGrid>
              <a:tr h="236883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Frequency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36883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58417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Wind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Strong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58417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Weak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670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10972800" cy="5867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Calculate the likelihood table for all features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10" y="1143000"/>
            <a:ext cx="9911590" cy="517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1714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333846"/>
              </p:ext>
            </p:extLst>
          </p:nvPr>
        </p:nvGraphicFramePr>
        <p:xfrm>
          <a:off x="152400" y="685800"/>
          <a:ext cx="4876800" cy="2103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186"/>
                <a:gridCol w="1020829"/>
                <a:gridCol w="1083733"/>
                <a:gridCol w="1023526"/>
                <a:gridCol w="1023526"/>
              </a:tblGrid>
              <a:tr h="335533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Likelihood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5533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5533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Temp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Hot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2/5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4/14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3553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Mild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4/9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2/5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6/14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3553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Cold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1/5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4/14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35533">
                <a:tc gridSpan="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9/14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5/14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89632"/>
              </p:ext>
            </p:extLst>
          </p:nvPr>
        </p:nvGraphicFramePr>
        <p:xfrm>
          <a:off x="6172201" y="685800"/>
          <a:ext cx="5867400" cy="1745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334"/>
                <a:gridCol w="1188334"/>
                <a:gridCol w="1188334"/>
                <a:gridCol w="1262605"/>
                <a:gridCol w="1039793"/>
              </a:tblGrid>
              <a:tr h="31438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Likelihood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14388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42969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Humidity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High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3/9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4/5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7/14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42969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Normal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6/9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1/5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7/14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42969">
                <a:tc gridSpan="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9/14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>
                          <a:latin typeface="Times New Roman" pitchFamily="18" charset="0"/>
                          <a:cs typeface="Times New Roman" pitchFamily="18" charset="0"/>
                        </a:rPr>
                        <a:t>5/14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195319"/>
              </p:ext>
            </p:extLst>
          </p:nvPr>
        </p:nvGraphicFramePr>
        <p:xfrm>
          <a:off x="3810000" y="4114800"/>
          <a:ext cx="4876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971"/>
                <a:gridCol w="851971"/>
                <a:gridCol w="940106"/>
                <a:gridCol w="1116376"/>
                <a:gridCol w="1116376"/>
              </a:tblGrid>
              <a:tr h="236883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Likelihood Table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Play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36883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58417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Wind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Strong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3/5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6/14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58417"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Weak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6/9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2/5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8/14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58417">
                <a:tc gridSpan="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9/14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5/14</a:t>
                      </a:r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70522" y="58930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Yes|Weak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0.66*0.64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)/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0.57= 0.74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No|Weak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(0.4*0.35)/0.57 =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0.25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2971800"/>
            <a:ext cx="4953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Yes|Cold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Cold|Yes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* P(Yes) / P(Cold)</a:t>
            </a:r>
          </a:p>
          <a:p>
            <a:pPr algn="ctr"/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    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0.33*0.64)/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0.28 =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0.75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No|Cold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0.2*0.35)/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0.28 =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0.25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91400" y="2805794"/>
            <a:ext cx="3635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Yes|High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(0.33*0.64)/0.5 = 0.42</a:t>
            </a:r>
          </a:p>
          <a:p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1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No|High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(0.8*0.35)/0.5 = </a:t>
            </a:r>
            <a:r>
              <a:rPr lang="en-US" sz="1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0.56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369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4" y="685800"/>
            <a:ext cx="11744325" cy="551542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 Data: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Naïve Assumption: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Feature are mutually independent given the label!</a:t>
            </a:r>
          </a:p>
          <a:p>
            <a:pPr marL="274320" lvl="1" indent="0"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P(Outlook Sunny, Temp Cool, Humidity High, Wind = Strong | Play = Yes)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48640" lvl="2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P(Outlook=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Sunny|Play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Yes)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P(Temp=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Cool|Play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Yes)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P(Humidity=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High|Play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Yes)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P(Wind=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Strong|Play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Yes)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71600"/>
            <a:ext cx="80581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5900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1093668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0" y="6103176"/>
            <a:ext cx="2865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Play = No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more likely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59703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Advantages of Naive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Bayes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This algorithm works very fast and can easily predict the class of a test dataset.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You can use it to solve multi-class prediction problems as it’s quite useful with them.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 Naive Bayes classifier performs better than other models with less training data if the assumption of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independence of features holds.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4. If you have categorical input variables, the Naive Bayes algorithm performs exceptionally well in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comparison to numerical variables.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074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Disadvantages of Naive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Bayes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31520" lvl="1" indent="-457200">
              <a:buClrTx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your test data set has a categorical variable of a category that wasn’t present in the training data set, the Naïve Bayes model will assign it zero probability and won’t be able to make any predictions in this regard.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phenomenon is called ‘Zero Frequency,’ and you’ll have to use a smoothing technique to solve this problem.</a:t>
            </a:r>
          </a:p>
          <a:p>
            <a:pPr marL="27432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   It assumes that all the features are independent. While it might sound great in theory, in real life, you’ll hardly find a set of independent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57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14135</TotalTime>
  <Words>2067</Words>
  <Application>Microsoft Office PowerPoint</Application>
  <PresentationFormat>Custom</PresentationFormat>
  <Paragraphs>526</Paragraphs>
  <Slides>37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Clarity</vt:lpstr>
      <vt:lpstr>Machine Learning and Data Mining Basics</vt:lpstr>
      <vt:lpstr>Course Goal</vt:lpstr>
      <vt:lpstr>Course Materials and References</vt:lpstr>
      <vt:lpstr>Course Materials and References</vt:lpstr>
      <vt:lpstr>Outline</vt:lpstr>
      <vt:lpstr>What if the data is NOT linearly separable?</vt:lpstr>
      <vt:lpstr>Decision Trees</vt:lpstr>
      <vt:lpstr>Decision Tree Terminology</vt:lpstr>
      <vt:lpstr>Decision Tree Terminology</vt:lpstr>
      <vt:lpstr>Algorithm for Decision Tree Induction</vt:lpstr>
      <vt:lpstr>Example</vt:lpstr>
      <vt:lpstr>What Is Impurity?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 Pruning</vt:lpstr>
      <vt:lpstr>Naïve Bayes </vt:lpstr>
      <vt:lpstr>Assumption of Naive Bayes</vt:lpstr>
      <vt:lpstr>Bayes' Theorem</vt:lpstr>
      <vt:lpstr>"Definition" 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Naive Bayes</vt:lpstr>
      <vt:lpstr>Disadvantages of Naive Bayes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Machine Learning Potential in Cyber-Physical Systems: A Case Study in Manufacturing Lines</dc:title>
  <dc:creator>Dell</dc:creator>
  <cp:lastModifiedBy>Dell</cp:lastModifiedBy>
  <cp:revision>189</cp:revision>
  <dcterms:created xsi:type="dcterms:W3CDTF">2026-02-02T17:00:48Z</dcterms:created>
  <dcterms:modified xsi:type="dcterms:W3CDTF">2026-03-28T18:41:47Z</dcterms:modified>
</cp:coreProperties>
</file>